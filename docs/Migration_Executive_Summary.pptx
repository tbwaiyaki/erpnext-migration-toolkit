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4731"/>
              </a:solidFill>
              <a:effectLst/>
            </c:spPr>
          </c:dPt>
          <c:dPt>
            <c:idx val="1"/>
            <c:bubble3D val="0"/>
            <c:spPr>
              <a:solidFill>
                <a:srgbClr val="1B3A5C"/>
              </a:solidFill>
              <a:effectLst/>
            </c:spPr>
          </c:dPt>
          <c:dPt>
            <c:idx val="2"/>
            <c:bubble3D val="0"/>
            <c:spPr>
              <a:solidFill>
                <a:srgbClr val="52796F"/>
              </a:solidFill>
              <a:effectLst/>
            </c:spPr>
          </c:dPt>
          <c:dPt>
            <c:idx val="3"/>
            <c:bubble3D val="0"/>
            <c:spPr>
              <a:solidFill>
                <a:srgbClr val="B7791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eTIMS Invoices</c:v>
                </c:pt>
                <c:pt idx="1">
                  <c:v>Event Venue Hire</c:v>
                </c:pt>
                <c:pt idx="2">
                  <c:v>Room Bookings</c:v>
                </c:pt>
                <c:pt idx="3">
                  <c:v>Egg Sales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2589840</c:v>
                </c:pt>
                <c:pt idx="1">
                  <c:v>1698000</c:v>
                </c:pt>
                <c:pt idx="2">
                  <c:v>619000</c:v>
                </c:pt>
                <c:pt idx="3">
                  <c:v>136840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A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473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4731"/>
                </a:solidFill>
                <a:latin typeface="Arial"/>
              </a:rPr>
              <a:t>Top 8 Expense Categories (KES)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KES</c:v>
                </c:pt>
              </c:strCache>
            </c:strRef>
          </c:tx>
          <c:spPr>
            <a:solidFill>
              <a:srgbClr val="1A47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Staff Salaries</c:v>
                  </c:pt>
                  <c:pt idx="1">
                    <c:v>Casual Labour</c:v>
                  </c:pt>
                  <c:pt idx="2">
                    <c:v>Supplies</c:v>
                  </c:pt>
                  <c:pt idx="3">
                    <c:v>Property Reno</c:v>
                  </c:pt>
                  <c:pt idx="4">
                    <c:v>Estate Charge</c:v>
                  </c:pt>
                  <c:pt idx="5">
                    <c:v>Inventory</c:v>
                  </c:pt>
                  <c:pt idx="6">
                    <c:v>Utilities</c:v>
                  </c:pt>
                  <c:pt idx="7">
                    <c:v>Events Setup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820000</c:v>
                </c:pt>
                <c:pt idx="1">
                  <c:v>610000</c:v>
                </c:pt>
                <c:pt idx="2">
                  <c:v>490000</c:v>
                </c:pt>
                <c:pt idx="3">
                  <c:v>380000</c:v>
                </c:pt>
                <c:pt idx="4">
                  <c:v>310000</c:v>
                </c:pt>
                <c:pt idx="5">
                  <c:v>270000</c:v>
                </c:pt>
                <c:pt idx="6">
                  <c:v>220000</c:v>
                </c:pt>
                <c:pt idx="7">
                  <c:v>195000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79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Income (KES)</c:v>
                </c:pt>
              </c:strCache>
            </c:strRef>
          </c:tx>
          <c:spPr>
            <a:solidFill>
              <a:srgbClr val="1A47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185000</c:v>
                </c:pt>
                <c:pt idx="1">
                  <c:v>210000</c:v>
                </c:pt>
                <c:pt idx="2">
                  <c:v>320000</c:v>
                </c:pt>
                <c:pt idx="3">
                  <c:v>290000</c:v>
                </c:pt>
                <c:pt idx="4">
                  <c:v>380000</c:v>
                </c:pt>
                <c:pt idx="5">
                  <c:v>420000</c:v>
                </c:pt>
                <c:pt idx="6">
                  <c:v>410000</c:v>
                </c:pt>
                <c:pt idx="7">
                  <c:v>395000</c:v>
                </c:pt>
                <c:pt idx="8">
                  <c:v>450000</c:v>
                </c:pt>
                <c:pt idx="9">
                  <c:v>480000</c:v>
                </c:pt>
                <c:pt idx="10">
                  <c:v>520000</c:v>
                </c:pt>
                <c:pt idx="11">
                  <c:v>610000</c:v>
                </c:pt>
                <c:pt idx="12">
                  <c:v>280000</c:v>
                </c:pt>
                <c:pt idx="13">
                  <c:v>293680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Expenses (KES)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295000</c:v>
                </c:pt>
                <c:pt idx="1">
                  <c:v>310000</c:v>
                </c:pt>
                <c:pt idx="2">
                  <c:v>330000</c:v>
                </c:pt>
                <c:pt idx="3">
                  <c:v>280000</c:v>
                </c:pt>
                <c:pt idx="4">
                  <c:v>345000</c:v>
                </c:pt>
                <c:pt idx="5">
                  <c:v>370000</c:v>
                </c:pt>
                <c:pt idx="6">
                  <c:v>360000</c:v>
                </c:pt>
                <c:pt idx="7">
                  <c:v>355000</c:v>
                </c:pt>
                <c:pt idx="8">
                  <c:v>390000</c:v>
                </c:pt>
                <c:pt idx="9">
                  <c:v>410000</c:v>
                </c:pt>
                <c:pt idx="10">
                  <c:v>430000</c:v>
                </c:pt>
                <c:pt idx="11">
                  <c:v>480000</c:v>
                </c:pt>
                <c:pt idx="12">
                  <c:v>270000</c:v>
                </c:pt>
                <c:pt idx="13">
                  <c:v>238477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79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CENTRE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ERPNext Migration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2560320" cy="36576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786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</a:rPr>
              <a:t>Migration period: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January 2024 – February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</a:rPr>
              <a:t>System: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ERPNext v15  ·  well.rosslyn.cloud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</a:rPr>
              <a:t>Report date: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March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463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1,625+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Migrated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52160" y="2743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Pass Rate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Wellness Centre  ·  ERPNext Migration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   |    Cover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63840" y="48966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5B5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503920" y="48966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 / 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Migrated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business domains — all historical data from January 2024 to February 2025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298448" cy="141732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1298448" cy="6400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188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" y="17556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eTIMS Sales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2157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2,589,840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64208" y="1078992"/>
            <a:ext cx="1298448" cy="141732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64208" y="1078992"/>
            <a:ext cx="1298448" cy="6400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3" name="Text 11"/>
          <p:cNvSpPr/>
          <p:nvPr/>
        </p:nvSpPr>
        <p:spPr>
          <a:xfrm>
            <a:off x="1664208" y="1188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64208" y="17556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64208" y="2157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619,000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72384" y="1078992"/>
            <a:ext cx="1298448" cy="141732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72384" y="1078992"/>
            <a:ext cx="1298448" cy="6400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8" name="Text 16"/>
          <p:cNvSpPr/>
          <p:nvPr/>
        </p:nvSpPr>
        <p:spPr>
          <a:xfrm>
            <a:off x="3072384" y="1188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072384" y="17556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Hire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72384" y="2157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1,698,000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1078992"/>
            <a:ext cx="1298448" cy="141732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1078992"/>
            <a:ext cx="1298448" cy="6400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188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480560" y="17556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157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136,840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88736" y="1078992"/>
            <a:ext cx="1298448" cy="141732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88736" y="1078992"/>
            <a:ext cx="1298448" cy="6400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8" name="Text 26"/>
          <p:cNvSpPr/>
          <p:nvPr/>
        </p:nvSpPr>
        <p:spPr>
          <a:xfrm>
            <a:off x="5888736" y="1188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727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888736" y="17556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88736" y="2157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4,363,477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96912" y="1078992"/>
            <a:ext cx="1298448" cy="141732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96912" y="1078992"/>
            <a:ext cx="1298448" cy="6400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3" name="Text 31"/>
          <p:cNvSpPr/>
          <p:nvPr/>
        </p:nvSpPr>
        <p:spPr>
          <a:xfrm>
            <a:off x="7296912" y="1188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296912" y="17556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96912" y="2157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2688336"/>
            <a:ext cx="8631936" cy="329184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" y="2697480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 9 compliance documents  ·  193 stock movements  ·  220 payment entries  ·  KES 4,000,000 capital injections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3127248"/>
            <a:ext cx="8631936" cy="74980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200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migrated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34930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5,043,680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754880" y="3200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 migrated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34930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4,363,477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Wellness Centre  ·  ERPNext Migration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   |    Scope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48966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5B5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503920" y="48966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2 / 8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Income Stream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5,043,680 across four streams — Jan 2024 to Feb 2025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5156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251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"/>
                <a:gridCol w="1097280"/>
                <a:gridCol w="777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Income Stream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Invoices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(KES)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Revenue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eTIMS Sales Invoices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2,589,840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51.3%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Event Venue Hire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1,698,000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Room Bookings (B&amp;B)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619,000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Poultry — Egg Sales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136,840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5,043,680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663440" y="37947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payment entries confirmed — KES 2,589,840 received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Wellness Centre  ·  ERPNext Migration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   |    Revenue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863840" y="48966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5B5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8503920" y="48966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3 / 8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— 709 Journal Entries, KES 4,363,477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operating categories · M-Pesa, Cash, and Bank Transfer · Jan 2024 – Feb 2025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5156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051560"/>
            <a:ext cx="3017520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51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1508760"/>
            <a:ext cx="3017520" cy="420624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0" name="Text 7"/>
          <p:cNvSpPr/>
          <p:nvPr/>
        </p:nvSpPr>
        <p:spPr>
          <a:xfrm>
            <a:off x="5961888" y="15453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61888" y="17282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 transactions  ·  54%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2075688"/>
            <a:ext cx="3017520" cy="42062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5961888" y="2112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22951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 transactions  ·  31%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2642616"/>
            <a:ext cx="3017520" cy="420624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6" name="Text 13"/>
          <p:cNvSpPr/>
          <p:nvPr/>
        </p:nvSpPr>
        <p:spPr>
          <a:xfrm>
            <a:off x="5961888" y="2679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61888" y="28620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transactions  ·  15%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52160" y="3273552"/>
            <a:ext cx="3017520" cy="76809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6"/>
          <p:cNvSpPr/>
          <p:nvPr/>
        </p:nvSpPr>
        <p:spPr>
          <a:xfrm>
            <a:off x="5961888" y="3310128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</a:rPr>
              <a:t>Also migrated: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 capital injections (KES 4,000,000)  ·  15 savings transfers (KES 229,000)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Wellness Centre  ·  ERPNext Migration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   |    Expenses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863840" y="48966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5B5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503920" y="48966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4 / 8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Compliance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items · 8 categories · 190 stock movements · 9 compliance documents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297680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20574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44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847088"/>
            <a:ext cx="2057400" cy="347472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47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Cutlery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249424"/>
            <a:ext cx="20574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49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Linens &amp; Fabrics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651760"/>
            <a:ext cx="2057400" cy="347472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32304" y="1444752"/>
            <a:ext cx="20574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444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Equipment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32304" y="1847088"/>
            <a:ext cx="2057400" cy="347472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1847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32304" y="2249424"/>
            <a:ext cx="20574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2249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Tools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32304" y="2651760"/>
            <a:ext cx="2057400" cy="347472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Equip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127248"/>
            <a:ext cx="4297680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127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items confirmed in ERPNext  ·  190 of 193 movements migrated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" y="3520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skipped: disposal/breakage qty exceeded receipts — documented exception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60520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444752"/>
            <a:ext cx="3017520" cy="237744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99832" y="1444752"/>
            <a:ext cx="1097280" cy="23774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4447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 PIN Certificate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99832" y="14447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700784"/>
            <a:ext cx="3017520" cy="237744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99832" y="1700784"/>
            <a:ext cx="1097280" cy="23774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7007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Registration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99832" y="1700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1956816"/>
            <a:ext cx="3017520" cy="237744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99832" y="1956816"/>
            <a:ext cx="1097280" cy="23774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19568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eTIMS Registration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99832" y="19568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212848"/>
            <a:ext cx="3017520" cy="237744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99832" y="2212848"/>
            <a:ext cx="1097280" cy="23774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22128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Compliance Cert.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99832" y="2212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468880"/>
            <a:ext cx="3017520" cy="237744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99832" y="2468880"/>
            <a:ext cx="1097280" cy="23774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24688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Business Permit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99832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2724912"/>
            <a:ext cx="3017520" cy="237744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99832" y="2724912"/>
            <a:ext cx="1097280" cy="23774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27249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Certificate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99832" y="2724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2980944"/>
            <a:ext cx="3017520" cy="237744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99832" y="2980944"/>
            <a:ext cx="1097280" cy="23774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29809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License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99832" y="29809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3236976"/>
            <a:ext cx="3017520" cy="237744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99832" y="3236976"/>
            <a:ext cx="1097280" cy="23774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9" name="Text 57"/>
          <p:cNvSpPr/>
          <p:nvPr/>
        </p:nvSpPr>
        <p:spPr>
          <a:xfrm>
            <a:off x="4846320" y="32369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Environmental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799832" y="32369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54880" y="3493008"/>
            <a:ext cx="3017520" cy="237744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99832" y="3493008"/>
            <a:ext cx="1097280" cy="23774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63" name="Text 61"/>
          <p:cNvSpPr/>
          <p:nvPr/>
        </p:nvSpPr>
        <p:spPr>
          <a:xfrm>
            <a:off x="4846320" y="3493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 Keeping Permit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99832" y="34930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54880" y="3822192"/>
            <a:ext cx="4160520" cy="34747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0" y="38221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41,000 renewal fees outstanding for 5 expired permits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68" name="Text 66"/>
          <p:cNvSpPr/>
          <p:nvPr/>
        </p:nvSpPr>
        <p:spPr>
          <a:xfrm>
            <a:off x="27432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Wellness Centre  ·  ERPNext Migration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   |    Inventory &amp; Compliance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863840" y="48966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5B5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503920" y="48966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5 / 8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&amp; Loss — Jan 2024 to Feb 2025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income streams vs operating expenses  ·  14-month view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51560"/>
          <a:ext cx="8595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Wellness Centre  ·  ERPNext Migration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   |    Monthly P&amp;L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63840" y="48966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5B5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503920" y="48966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6 / 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 — 13 of 13 Checks Passed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by ValidationReporter + ReportGenerator  ·  Live ERPNext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7899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eTIMS invoices — count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99032"/>
            <a:ext cx="4206240" cy="274320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9903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399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eTIMS invoices — total KES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1907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719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Room booking invoices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39112"/>
            <a:ext cx="4206240" cy="274320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3911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039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 venue hire invoices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5915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359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Egg sale invoices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679192"/>
            <a:ext cx="4206240" cy="274320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7919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Payment entries received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99232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99923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Journal entries — count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078992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07899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Inventory items — count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1399032"/>
            <a:ext cx="4206240" cy="274320"/>
          </a:xfrm>
          <a:prstGeom prst="rect">
            <a:avLst/>
          </a:prstGeom>
          <a:solidFill>
            <a:srgbClr val="F8FAF8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1399032"/>
            <a:ext cx="54864" cy="2743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1399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Stock movements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1719072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71907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5" name="Text 33"/>
          <p:cNvSpPr/>
          <p:nvPr/>
        </p:nvSpPr>
        <p:spPr>
          <a:xfrm>
            <a:off x="4818888" y="1719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 documents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2039112"/>
            <a:ext cx="4206240" cy="274320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03911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8" name="Text 36"/>
          <p:cNvSpPr/>
          <p:nvPr/>
        </p:nvSpPr>
        <p:spPr>
          <a:xfrm>
            <a:off x="4818888" y="2039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 income reconciled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2359152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235915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1" name="Text 39"/>
          <p:cNvSpPr/>
          <p:nvPr/>
        </p:nvSpPr>
        <p:spPr>
          <a:xfrm>
            <a:off x="4818888" y="2359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 expenses reconciled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679192"/>
            <a:ext cx="4206240" cy="274320"/>
          </a:xfrm>
          <a:prstGeom prst="rect">
            <a:avLst/>
          </a:prstGeom>
          <a:solidFill>
            <a:srgbClr val="F8FAF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2679192"/>
            <a:ext cx="54864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4" name="Text 42"/>
          <p:cNvSpPr/>
          <p:nvPr/>
        </p:nvSpPr>
        <p:spPr>
          <a:xfrm>
            <a:off x="4818888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Trial Balance — debits = credits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133088"/>
            <a:ext cx="8595360" cy="329184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413308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</a:rPr>
              <a:t>⚠ Stock movements: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190 of 193 migrated. 3 skipped — disposal/breakage records exceeded receipts. Documented exception.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Wellness Centre  ·  ERPNext Migration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   |    Validation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63840" y="48966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5B5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503920" y="48966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7 / 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1828800" cy="36576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1,625+ records live in ERPNext v15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 validation checks passed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5,043,680 revenue confirmed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15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4,363,477 expenses confirmed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balanced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report delivered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guide delivered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0"/>
            <a:ext cx="109728" cy="5143500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560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822960"/>
            <a:ext cx="4114800" cy="530352"/>
          </a:xfrm>
          <a:prstGeom prst="rect">
            <a:avLst/>
          </a:prstGeom>
          <a:solidFill>
            <a:srgbClr val="3D8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956048" y="859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956048" y="1060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5 expired permits — KES 41,000 outstanding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435608"/>
            <a:ext cx="4114800" cy="5303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14721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956048" y="1673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on ERPNext daily operations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048256"/>
            <a:ext cx="4114800" cy="530352"/>
          </a:xfrm>
          <a:prstGeom prst="rect">
            <a:avLst/>
          </a:prstGeom>
          <a:solidFill>
            <a:srgbClr val="3D8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956048" y="22860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ERPNext for live transaction recording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660904"/>
            <a:ext cx="4114800" cy="5303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697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56048" y="2898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ERPNext Data Import tool for faster future migrations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273552"/>
            <a:ext cx="4114800" cy="530352"/>
          </a:xfrm>
          <a:prstGeom prst="rect">
            <a:avLst/>
          </a:prstGeom>
          <a:solidFill>
            <a:srgbClr val="3D8B6B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3310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56048" y="3511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ERPNext operational dashboard for management reporting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886200"/>
            <a:ext cx="4114800" cy="5303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39227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56048" y="41239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Multi-company ERPNext support for group entities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Wellness Centre  ·  ERPNext Migration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   |    Conclusion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63840" y="48966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5B5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03920" y="48966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8 / 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Wellness Centre — ERPNext Migration Executive Summary</dc:title>
  <dc:subject>PptxGenJS Presentation</dc:subject>
  <dc:creator>EMT Report Generator</dc:creator>
  <cp:lastModifiedBy>EMT Report Generator</cp:lastModifiedBy>
  <cp:revision>1</cp:revision>
  <dcterms:created xsi:type="dcterms:W3CDTF">2026-03-12T16:42:56Z</dcterms:created>
  <dcterms:modified xsi:type="dcterms:W3CDTF">2026-03-12T16:42:56Z</dcterms:modified>
</cp:coreProperties>
</file>